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e557d412a449b7" /><Relationship Type="http://schemas.openxmlformats.org/officeDocument/2006/relationships/extended-properties" Target="/docProps/app.xml" Id="R086074921e454fd6" /><Relationship Type="http://schemas.openxmlformats.org/officeDocument/2006/relationships/officeDocument" Target="/ppt/presentation.xml" Id="Rb16430c5e9614a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9e037389834696"/>
  </p:sldMasterIdLst>
  <p:notesMasterIdLst>
    <p:notesMasterId xmlns:r="http://schemas.openxmlformats.org/officeDocument/2006/relationships" r:id="Rcf2aeeb7b79a4bdc"/>
  </p:notesMasterIdLst>
  <p:sldIdLst>
    <p:sldId xmlns:r="http://schemas.openxmlformats.org/officeDocument/2006/relationships" id="256" r:id="Rab74d154de10454d"/>
    <p:sldId xmlns:r="http://schemas.openxmlformats.org/officeDocument/2006/relationships" id="257" r:id="R308b38ad9eed468b"/>
    <p:sldId xmlns:r="http://schemas.openxmlformats.org/officeDocument/2006/relationships" id="258" r:id="R77059b96fee94056"/>
    <p:sldId xmlns:r="http://schemas.openxmlformats.org/officeDocument/2006/relationships" id="259" r:id="R75d6428086b94b8f"/>
    <p:sldId xmlns:r="http://schemas.openxmlformats.org/officeDocument/2006/relationships" id="260" r:id="R878750e0ad694055"/>
    <p:sldId xmlns:r="http://schemas.openxmlformats.org/officeDocument/2006/relationships" id="261" r:id="R905d7d4b621440fd"/>
    <p:sldId xmlns:r="http://schemas.openxmlformats.org/officeDocument/2006/relationships" id="262" r:id="R89f710657a6046bd"/>
    <p:sldId xmlns:r="http://schemas.openxmlformats.org/officeDocument/2006/relationships" id="263" r:id="Ra9dae73cddb147e6"/>
    <p:sldId xmlns:r="http://schemas.openxmlformats.org/officeDocument/2006/relationships" id="264" r:id="Refa2d1d59ed34925"/>
    <p:sldId xmlns:r="http://schemas.openxmlformats.org/officeDocument/2006/relationships" id="265" r:id="R8737d0a704994549"/>
    <p:sldId xmlns:r="http://schemas.openxmlformats.org/officeDocument/2006/relationships" id="266" r:id="R4b064272a17d4a8d"/>
    <p:sldId xmlns:r="http://schemas.openxmlformats.org/officeDocument/2006/relationships" id="267" r:id="Rd331e03373c8422e"/>
    <p:sldId xmlns:r="http://schemas.openxmlformats.org/officeDocument/2006/relationships" id="268" r:id="R6a7d725a3a1f429f"/>
    <p:sldId xmlns:r="http://schemas.openxmlformats.org/officeDocument/2006/relationships" id="269" r:id="R78745da2428840ce"/>
    <p:sldId xmlns:r="http://schemas.openxmlformats.org/officeDocument/2006/relationships" id="270" r:id="Rae91da68b1544a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e037389834696" /><Relationship Type="http://schemas.openxmlformats.org/officeDocument/2006/relationships/theme" Target="/ppt/theme/theme1.xml" Id="R6b61be4079dd4647" /><Relationship Type="http://schemas.openxmlformats.org/officeDocument/2006/relationships/notesMaster" Target="/ppt/notesMasters/notesMaster1.xml" Id="Rcf2aeeb7b79a4bdc" /><Relationship Type="http://schemas.openxmlformats.org/officeDocument/2006/relationships/presProps" Target="/ppt/presProps.xml" Id="R8ab4baae56544538" /><Relationship Type="http://schemas.openxmlformats.org/officeDocument/2006/relationships/viewProps" Target="/ppt/viewProps.xml" Id="R1cbf174b3a2646ef" /><Relationship Type="http://schemas.openxmlformats.org/officeDocument/2006/relationships/tableStyles" Target="/ppt/tableStyles.xml" Id="R30ab9d4f59ec40dc" /><Relationship Type="http://schemas.openxmlformats.org/officeDocument/2006/relationships/slide" Target="/ppt/slides/slide1.xml" Id="Rab74d154de10454d" /><Relationship Type="http://schemas.openxmlformats.org/officeDocument/2006/relationships/slide" Target="/ppt/slides/slide2.xml" Id="R308b38ad9eed468b" /><Relationship Type="http://schemas.openxmlformats.org/officeDocument/2006/relationships/slide" Target="/ppt/slides/slide3.xml" Id="R77059b96fee94056" /><Relationship Type="http://schemas.openxmlformats.org/officeDocument/2006/relationships/slide" Target="/ppt/slides/slide4.xml" Id="R75d6428086b94b8f" /><Relationship Type="http://schemas.openxmlformats.org/officeDocument/2006/relationships/slide" Target="/ppt/slides/slide5.xml" Id="R878750e0ad694055" /><Relationship Type="http://schemas.openxmlformats.org/officeDocument/2006/relationships/slide" Target="/ppt/slides/slide6.xml" Id="R905d7d4b621440fd" /><Relationship Type="http://schemas.openxmlformats.org/officeDocument/2006/relationships/slide" Target="/ppt/slides/slide7.xml" Id="R89f710657a6046bd" /><Relationship Type="http://schemas.openxmlformats.org/officeDocument/2006/relationships/slide" Target="/ppt/slides/slide8.xml" Id="Ra9dae73cddb147e6" /><Relationship Type="http://schemas.openxmlformats.org/officeDocument/2006/relationships/slide" Target="/ppt/slides/slide9.xml" Id="Refa2d1d59ed34925" /><Relationship Type="http://schemas.openxmlformats.org/officeDocument/2006/relationships/slide" Target="/ppt/slides/slide10.xml" Id="R8737d0a704994549" /><Relationship Type="http://schemas.openxmlformats.org/officeDocument/2006/relationships/slide" Target="/ppt/slides/slide11.xml" Id="R4b064272a17d4a8d" /><Relationship Type="http://schemas.openxmlformats.org/officeDocument/2006/relationships/slide" Target="/ppt/slides/slide12.xml" Id="Rd331e03373c8422e" /><Relationship Type="http://schemas.openxmlformats.org/officeDocument/2006/relationships/slide" Target="/ppt/slides/slide13.xml" Id="R6a7d725a3a1f429f" /><Relationship Type="http://schemas.openxmlformats.org/officeDocument/2006/relationships/slide" Target="/ppt/slides/slide14.xml" Id="R78745da2428840ce" /><Relationship Type="http://schemas.openxmlformats.org/officeDocument/2006/relationships/slide" Target="/ppt/slides/slide15.xml" Id="Rae91da68b1544a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31a9da66d5642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4781e465a847a7" /><Relationship Type="http://schemas.openxmlformats.org/officeDocument/2006/relationships/notesMaster" Target="/ppt/notesMasters/notesMaster1.xml" Id="R1d38965d6ea340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e8551af2fd48bc" /><Relationship Type="http://schemas.openxmlformats.org/officeDocument/2006/relationships/notesMaster" Target="/ppt/notesMasters/notesMaster1.xml" Id="R0992a06f7c8a41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f03066c0d4406b" /><Relationship Type="http://schemas.openxmlformats.org/officeDocument/2006/relationships/notesMaster" Target="/ppt/notesMasters/notesMaster1.xml" Id="R217b358ee1e649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cfc5ce94184bee" /><Relationship Type="http://schemas.openxmlformats.org/officeDocument/2006/relationships/notesMaster" Target="/ppt/notesMasters/notesMaster1.xml" Id="R16940f7f66d348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4dff96296c4d25" /><Relationship Type="http://schemas.openxmlformats.org/officeDocument/2006/relationships/notesMaster" Target="/ppt/notesMasters/notesMaster1.xml" Id="Red4cc5f9e10c4a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ba06cadb1c410f" /><Relationship Type="http://schemas.openxmlformats.org/officeDocument/2006/relationships/notesMaster" Target="/ppt/notesMasters/notesMaster1.xml" Id="R894fc6c7b25a40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b0651f3f1540ff" /><Relationship Type="http://schemas.openxmlformats.org/officeDocument/2006/relationships/notesMaster" Target="/ppt/notesMasters/notesMaster1.xml" Id="Rfe724d29b9614c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cb933055f74fa3" /><Relationship Type="http://schemas.openxmlformats.org/officeDocument/2006/relationships/notesMaster" Target="/ppt/notesMasters/notesMaster1.xml" Id="Re8141cc4682645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f5f1673bff49e1" /><Relationship Type="http://schemas.openxmlformats.org/officeDocument/2006/relationships/notesMaster" Target="/ppt/notesMasters/notesMaster1.xml" Id="R3b9ca523718b47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3a4a6a6c8d42c1" /><Relationship Type="http://schemas.openxmlformats.org/officeDocument/2006/relationships/notesMaster" Target="/ppt/notesMasters/notesMaster1.xml" Id="R73cb3d66e46242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49d0c4780b435c" /><Relationship Type="http://schemas.openxmlformats.org/officeDocument/2006/relationships/notesMaster" Target="/ppt/notesMasters/notesMaster1.xml" Id="R829f35d8276141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8cb9da9b8d4abe" /><Relationship Type="http://schemas.openxmlformats.org/officeDocument/2006/relationships/notesMaster" Target="/ppt/notesMasters/notesMaster1.xml" Id="R6ab4af51255d4a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fd645af5064efa" /><Relationship Type="http://schemas.openxmlformats.org/officeDocument/2006/relationships/notesMaster" Target="/ppt/notesMasters/notesMaster1.xml" Id="Re4b21ba32f4643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26dd145381403c" /><Relationship Type="http://schemas.openxmlformats.org/officeDocument/2006/relationships/notesMaster" Target="/ppt/notesMasters/notesMaster1.xml" Id="R9ddb52e22eb244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89d47452824151" /><Relationship Type="http://schemas.openxmlformats.org/officeDocument/2006/relationships/notesMaster" Target="/ppt/notesMasters/notesMaster1.xml" Id="Rce972fa8fb4948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d1be8e560440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1774150f1d4612" /><Relationship Type="http://schemas.openxmlformats.org/officeDocument/2006/relationships/slideLayout" Target="/ppt/slideLayouts/slideLayout2.xml" Id="R518a649f521a4b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8a649f521a4b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3dc7df3eb14aee" /><Relationship Type="http://schemas.openxmlformats.org/officeDocument/2006/relationships/image" Target="/ppt/media/image.png" Id="Re1ec82f848e84070" /><Relationship Type="http://schemas.openxmlformats.org/officeDocument/2006/relationships/notesSlide" Target="/ppt/notesSlides/notesSlide1.xml" Id="R09fd1714b96549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31f07c67394126" /><Relationship Type="http://schemas.openxmlformats.org/officeDocument/2006/relationships/notesSlide" Target="/ppt/notesSlides/notesSlide2.xml" Id="Rd36f754576ff4a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068bc1a2164837" /><Relationship Type="http://schemas.openxmlformats.org/officeDocument/2006/relationships/image" Target="/ppt/media/image2.png" Id="Re82ec73ba23e4809" /><Relationship Type="http://schemas.openxmlformats.org/officeDocument/2006/relationships/image" Target="/ppt/media/image3.png" Id="Rfcb41f265a274ea8" /><Relationship Type="http://schemas.openxmlformats.org/officeDocument/2006/relationships/notesSlide" Target="/ppt/notesSlides/notesSlide3.xml" Id="Rfa2319e639794e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736de75af142ac" /><Relationship Type="http://schemas.openxmlformats.org/officeDocument/2006/relationships/notesSlide" Target="/ppt/notesSlides/notesSlide4.xml" Id="Rf277c16a2f574d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11f7c59f5f4c2c" /><Relationship Type="http://schemas.openxmlformats.org/officeDocument/2006/relationships/notesSlide" Target="/ppt/notesSlides/notesSlide5.xml" Id="Rdd5cdfd7229348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cbf45fb0df428b" /><Relationship Type="http://schemas.openxmlformats.org/officeDocument/2006/relationships/notesSlide" Target="/ppt/notesSlides/notesSlide6.xml" Id="R08b04dba7b0446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4a9ba309664467" /><Relationship Type="http://schemas.openxmlformats.org/officeDocument/2006/relationships/notesSlide" Target="/ppt/notesSlides/notesSlide7.xml" Id="R49aab12b3f384b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0eccff7931442e" /><Relationship Type="http://schemas.openxmlformats.org/officeDocument/2006/relationships/image" Target="/ppt/media/image4.png" Id="R3e0f788dd0ae41bf" /><Relationship Type="http://schemas.openxmlformats.org/officeDocument/2006/relationships/image" Target="/ppt/media/image5.png" Id="R1ef2b7fe01bc4c00" /><Relationship Type="http://schemas.openxmlformats.org/officeDocument/2006/relationships/notesSlide" Target="/ppt/notesSlides/notesSlide8.xml" Id="R4ffbe0f3d91f40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cc8ab5278f42a4" /><Relationship Type="http://schemas.openxmlformats.org/officeDocument/2006/relationships/image" Target="/ppt/media/image6.png" Id="R6433fafac98d4e69" /><Relationship Type="http://schemas.openxmlformats.org/officeDocument/2006/relationships/image" Target="/ppt/media/image7.png" Id="R7103c0ff49094913" /><Relationship Type="http://schemas.openxmlformats.org/officeDocument/2006/relationships/notesSlide" Target="/ppt/notesSlides/notesSlide9.xml" Id="Rdd662d49fdee48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e351dd00c14f1f" /><Relationship Type="http://schemas.openxmlformats.org/officeDocument/2006/relationships/image" Target="/ppt/media/image8.png" Id="Ra15a37e9b82c4493" /><Relationship Type="http://schemas.openxmlformats.org/officeDocument/2006/relationships/image" Target="/ppt/media/image9.png" Id="R7a014351bef74c77" /><Relationship Type="http://schemas.openxmlformats.org/officeDocument/2006/relationships/notesSlide" Target="/ppt/notesSlides/notesSlide10.xml" Id="Rf1d878ad4c9148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614017dac47eb" /><Relationship Type="http://schemas.openxmlformats.org/officeDocument/2006/relationships/image" Target="/ppt/media/image10.png" Id="R1ca40c636ecc4ada" /><Relationship Type="http://schemas.openxmlformats.org/officeDocument/2006/relationships/image" Target="/ppt/media/image11.png" Id="R2e26a35d787a42fe" /><Relationship Type="http://schemas.openxmlformats.org/officeDocument/2006/relationships/notesSlide" Target="/ppt/notesSlides/notesSlide11.xml" Id="Rd2bb174e595f44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211fb8c5f849d7" /><Relationship Type="http://schemas.openxmlformats.org/officeDocument/2006/relationships/image" Target="/ppt/media/image12.png" Id="Rffe7165637b744fa" /><Relationship Type="http://schemas.openxmlformats.org/officeDocument/2006/relationships/image" Target="/ppt/media/image13.png" Id="R4ccbde0636564730" /><Relationship Type="http://schemas.openxmlformats.org/officeDocument/2006/relationships/notesSlide" Target="/ppt/notesSlides/notesSlide12.xml" Id="Ra39a833f71bd41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24c7136ba34cf3" /><Relationship Type="http://schemas.openxmlformats.org/officeDocument/2006/relationships/image" Target="/ppt/media/image14.png" Id="R0222bdfc386a4ed6" /><Relationship Type="http://schemas.openxmlformats.org/officeDocument/2006/relationships/notesSlide" Target="/ppt/notesSlides/notesSlide13.xml" Id="R8d2b6814219146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4536828f2b410b" /><Relationship Type="http://schemas.openxmlformats.org/officeDocument/2006/relationships/notesSlide" Target="/ppt/notesSlides/notesSlide14.xml" Id="R37dd02c48f4d4e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36863270bb47d7" /><Relationship Type="http://schemas.openxmlformats.org/officeDocument/2006/relationships/notesSlide" Target="/ppt/notesSlides/notesSlide15.xml" Id="Rf881530747cb42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485773-0E20-4F22-BCFD-D66AC862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07DFC-721C-4EE3-B003-857EF937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E9542-1E2F-4A90-90BE-ECE0354F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E792D-A75A-481A-B66F-F84520C5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c82f848e84070"/>
          <a:stretch xmlns:a="http://schemas.openxmlformats.org/drawingml/2006/main"/>
        </p:blipFill>
        <p:spPr>
          <a:xfrm xmlns:a="http://schemas.openxmlformats.org/drawingml/2006/main">
            <a:off x="7239000" y="1303867"/>
            <a:ext cx="3848100" cy="299296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CC1A6-3C86-4FA2-8198-24F1F047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552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信用卡欺诈检测项目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ECADC-2EF1-474F-9277-6419570B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Credit Card Fraud 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03D36-88A2-4231-8A69-D350A9C5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581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从零实现模型 · 跨数据集验证 · 阈值与成本敏感分析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F0755-505E-46A9-AA21-FCC080B7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501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2F8D0-450D-4991-942B-6BD9611C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30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4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983AD-611D-4C4D-88F1-07C23959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Best high-recall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EB0DB-21DA-4691-A47E-87C5FFDA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LR Recall 0.8466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033D3D-DAD3-4A12-AD57-99FA575B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230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3F1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E6059-3236-4399-91E6-D36E34D0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67100"/>
            <a:ext cx="2038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Low-alert candidate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5AFFF-6CF9-41EE-8DD2-FEEFBB39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7665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6F68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E6F68"/>
                </a:solidFill>
                <a:latin typeface="Aptos Display"/>
                <a:ea typeface="Aptos Display"/>
                <a:cs typeface="Aptos Display"/>
              </a:rPr>
              <a:t>MinMax F1 0.7256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0F302-42EF-45AB-A6C0-08E98F92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本项目从数据修复、模型实现、外部验证到答辩材料形成闭环。核心结论是：标准缩放 LR 适合作为高召回主线，MinMax LR 适合作为低误报候选模式。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D794A-2A45-4744-8508-69A929D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AE341-D85C-498E-AFF1-032F8EE5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F61F2-4DBB-4753-A614-EC8C8C12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64830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739D25-5590-4D2B-B7C7-57A944E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B3D8A-1EA8-4335-A6C2-6CA5D998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DCFB1-3466-4425-87C3-B7C5F6A9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830FE-EBFC-425F-991F-09B0B5C3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2FE79-EBF2-45D0-82B1-8BB02922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一句话结论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87CA7-1DB9-4A30-8D03-28887AFA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CDEFC-B4C7-4C90-AAB4-2EF86342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621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主线模型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6F40B-08F9-4003-8E92-EB1098D9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Logistic 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9B9B1-CB37-40B4-A2F9-6E69848D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从零实现，外部集表现最稳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46098-5A53-4DF0-AE44-87988D3E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49FC3-C5BF-4916-9445-1B160C9A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高召回运行点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CE4A7-4556-4548-93DE-6F0CFB8C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097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Recall 0.8466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5E4B4-F1B7-4AA1-B6CE-0173FEC8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2885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Standard scaling, OOF threshold 0.85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4AD4E-32B5-4226-8DFF-0F828F3F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2E51A-B721-4840-9025-E3290981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6210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低误报运行点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700C8-9E20-41EE-AE06-8C14CD83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097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6F6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E6F68"/>
                </a:solidFill>
                <a:latin typeface="Aptos Display"/>
                <a:ea typeface="Aptos Display"/>
                <a:cs typeface="Aptos Display"/>
              </a:rPr>
              <a:t>FP = 59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F9645-B464-4C35-A4D1-C23EA7F9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2885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MinMax scaling, OOF threshold 0.41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E0F29-1BDA-4617-8250-DAA2DF62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3028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46A70-07BF-4543-8C84-A3F64E8F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8AAD1-63FC-4D6C-9940-BBECB97A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为什么有两个推荐模式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CA85FE-BC4F-4D65-9E84-329D69C2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欺诈检测不是单一指标最大化。若漏报成本更高，优先使用标准缩放 LR；若人工审核容量很紧，MinMax LR 能显著减少误报。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E999F-BC6B-40C6-AE67-D3E89742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3028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9389D-9C8C-4844-8F1F-DAA5B9FB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96FDA-F392-4716-B9D4-6332F939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147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最重要的工程修复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1226A3-3010-424B-86A0-44B0C01E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5760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外部 prepared 数据已恢复到 568,630 行，训练从 quick mode 切换到完整 5-fold，所有关键结果重新生成。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4BCB97-FB66-400C-9599-26EAC19F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3028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555DCF-600E-4E80-9E7F-6587199C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3028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18ACBD-0381-4BEB-AAF4-71759AB8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Notebook 被吸收的价值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E73C0A-00A1-4132-B1D4-98A07038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参考 notebook 中的 EDA、缩放实验和成熟库 benchmark 已转成可复跑脚本，并写入报告和 PPT。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4E93DC-1D77-497B-85B9-3639BE2E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9112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答辩主线：问题定义 → 数据修复 → 模型与验证 → 阈值决策 → 运行建议。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54DF0D-B5EE-4AE5-8E54-E117E02B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81CB57-5CDC-4962-B3A7-753C33F8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E4F515-EB88-4F35-8903-8CCDD9A3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87618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8E4A6-69FC-4CB0-8824-D5EFB9A1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714E6-94D8-47AF-9072-C2988CA3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3E16D-BBA7-4A1E-8CD7-E7E92534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A63C4-0C29-41CE-9200-886AF22D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Data Landscape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F42B6-BDA8-4679-9A20-F751095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数据视角：极端不平衡与外部压力测试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ec73ba23e4809"/>
          <a:stretch xmlns:a="http://schemas.openxmlformats.org/drawingml/2006/main"/>
        </p:blipFill>
        <p:spPr>
          <a:xfrm xmlns:a="http://schemas.openxmlformats.org/drawingml/2006/main">
            <a:off x="742950" y="1476375"/>
            <a:ext cx="4000500" cy="2667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41f265a274ea8"/>
          <a:stretch xmlns:a="http://schemas.openxmlformats.org/drawingml/2006/main"/>
        </p:blipFill>
        <p:spPr>
          <a:xfrm xmlns:a="http://schemas.openxmlformats.org/drawingml/2006/main">
            <a:off x="5619750" y="2047875"/>
            <a:ext cx="3810000" cy="1524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6BCEB-7FE2-475A-AA6E-37FE6BE2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76F5E-5351-4D3D-9F11-07F84AA2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Main 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A9E82-AF57-4495-AC2D-06B3C2E7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284,807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6D20C-6290-4514-90F0-5068C196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3875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Fraud ratio: about 0.17%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9C1ED-AD86-4333-ADAA-6E011E5A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386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AE1E6-71C0-494F-AF57-85195446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720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External 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22BA4-A6EE-497F-9209-CF5E6978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196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6F6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E6F68"/>
                </a:solidFill>
                <a:latin typeface="Aptos Display"/>
                <a:ea typeface="Aptos Display"/>
                <a:cs typeface="Aptos Display"/>
              </a:rPr>
              <a:t>568,630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2B614-E939-4340-BC26-D62356BB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3875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Balanced: 284,315 / 284,315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74F6B-18A9-49FA-A6DF-1C82D0AD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3865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B2FAD-5343-4697-982F-2D53D767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Evaluation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06496-A00A-4DCD-AFF1-59B7C969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196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2457A6"/>
                </a:solidFill>
                <a:latin typeface="Aptos Display"/>
                <a:ea typeface="Aptos Display"/>
                <a:cs typeface="Aptos Display"/>
              </a:rPr>
              <a:t>Accuracy fails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9CC7A-B8DB-4E8B-9E10-2F2D9DB4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38750"/>
            <a:ext cx="226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 Recall, F1, PR-AUC, confusion matrix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35877-C748-45E1-BFE3-8F35A46C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2B2557-FDD5-4D15-84E7-22EDD2AF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61587-C580-4403-9785-4A839437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18025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41393C-7E23-47EF-9EDB-E888DB6D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E188D-2DD4-4A8D-9994-927688A0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9057C-5F69-4D75-9617-067796BF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684FE-53CE-46F2-B3FE-EC59CF62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Evaluation Protocol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212A0-9727-46D1-BB7F-C7EAEFB0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评估协议：避免漂亮但无效的准确率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99518-ABB4-4AAB-AE3D-BA0E92D0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4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3F3D6-85AC-4048-A656-3C16D70E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8CFF6-19A2-4E64-B83F-FB5560D9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1. 主数据交叉验证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34FF1-9BE3-437B-9F19-EC7D638B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2514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使用 5-fold CV 估计模型在原始不平衡数据上的稳定性。输出 Recall、F1、PR-AUC，不用 Accuracy 做核心结论。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8721E-B327-424E-AA2E-9C6BB41A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4F196-4B80-42C8-9E68-A6405568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ECF5E-9345-405A-9328-B60CDF20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0020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2. 外部 2023 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0D595-0DBE-42E2-898D-889F1F24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43100"/>
            <a:ext cx="2514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把模型迁移到完整 external 2023 数据，检查跨数据集泛化能力，并暴露分布偏移造成的召回/误报变化。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946AC-44D3-459A-BA7E-B09259FB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3F1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53773-7181-4A83-B447-80A70ABA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D47A6-DC93-4B1A-911B-D6E775E7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00200"/>
            <a:ext cx="2514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3. 阈值与成本扫描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7950A-9865-44D2-A104-C721465F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43100"/>
            <a:ext cx="2514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不默认使用 0.5 阈值。通过阈值曲线、混淆矩阵和成本函数选择运行点。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B495B-D4E0-4775-91FB-C15CD5FE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8763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E56F7-BE15-44CC-AF30-4E5B9342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本项目的判断标准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F8CA2-82DE-4F3F-B3DE-59891949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29100"/>
            <a:ext cx="800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模型必须同时满足：主数据交叉验证可解释、外部数据不崩溃、阈值选择有依据、结果能转化成业务运行建议。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4C04B-45D1-4D80-8BC0-A8B81754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93707-1E4F-4C1D-9C5D-67675BE2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D0DEF-6134-4287-8A3A-1CE6971C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93526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E2084E-4BD9-48D3-83F6-1EBB78C7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27379-EEF5-428B-B03E-B26B1A83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5CD08-E124-4405-8E3B-4DD0853F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6CF81-62C7-463C-A6ED-679023F3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Project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C6486-D7A9-4497-8576-062F0BEB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项目流水线：从数据到可交付结论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3BA4C-F536-4C50-B4FA-7E2C0FA3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6AAFB-4B5B-4DB6-9A83-137BBBE5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906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10C21-96CA-4BC7-B0F9-3E953A27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0020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数据准备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AC6F9-1B6C-4597-A091-9E3E35C8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0500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统一主数据与 external 2023 字段，生成 prepared 数据与元信息校验。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5B094-C0F4-4A45-8D29-92F871F4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478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25056-4339-4259-AA8B-9277B5A5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906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49CC6-BE46-4C55-8139-17EA01E2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0020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从零实现模型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35545-6371-4987-86E1-5A33E55C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实现 LR、GaussianNB、kNN，保留课程要求下可解释的核心算法。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DC0A1-E7EB-4A21-9962-DF2B39F5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478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FD976-A313-4C8B-8D31-2072C9C5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906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22810-7B47-4ED4-8AF7-7D16DFE6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0020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完整 5-fold CV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D9606-E27B-4ABB-8E49-851019D0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替换 quick mode，输出稳定的主数据集交叉验证结果。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24784-D959-4C14-AEF4-5B99D619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B027E-0639-45AF-A1BC-F4D2AE8A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956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153D2-4CD7-4150-9FEC-51E7EBC7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外部验证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739DF7-418F-4806-B4C5-07CC9579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099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在完整 external 2023 上复核 LR/GNB；kNN 采用分层外部子集。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5BB98-EB2B-490E-AECB-B7FAFB19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057A6-C4C7-40B6-8668-DE649EBD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956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795D5-F123-49C3-93E0-C78BAD37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阈值与成本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67C58A-46B1-40A0-990A-4EAE39B4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扫描阈值、混淆矩阵、成本曲线，形成可解释运行点。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B12C0E-7EC6-4FF3-95B6-80B04796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5275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05313-C9AA-4D15-ABDA-6B885E60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956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031E78-70BF-4E37-82F5-95A43925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0515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报告与答辩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D338B9-1854-481E-BE4E-AC3D1E30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099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同步 README、报告、LaTeX、图表与 PPT，降低最终提交风险。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0C08CF-9372-4C6D-9C57-943E30DA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输出目录：outputs/stage1-5 · docs · latex_bundle · defense 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5EF3BA-9EAF-4464-BD32-C3A86288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0FBDED-2312-4953-8BDC-7C2A1E37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B5C797-1EF6-4D4C-9F3F-EB49D9CC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49613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68ABC3-DF97-46E7-95E0-398ED36D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10EA2-A7F9-4A46-BE08-F140C751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67399-A907-4F27-9EDA-5BFB374D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E0345-D2D5-4CD5-A50E-9DE4ED55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Fix 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964B6-F42A-4E37-9A04-1D6D70DD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关键修复：项目从“能跑”到“可信”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BC2D2-B6B6-4B5A-89C9-0043B51A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4476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43D0E-D4C8-41BA-8BA7-E88D0AC8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81502-B640-4AD7-92D3-1C3618F8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外部 prepared 文件修复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718D8-A777-41F1-AA41-D01855CE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41338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恢复 external prepared 数据到 568,630 行，并加入写后读取校验，确保类别分布为 284,315 / 284,315。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6168E-59E5-4B42-95C8-6B0D83A8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4476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3362E-7CE1-47F1-BBAD-FADF0A33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E94A4-015E-408C-8258-002A2BC8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8115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训练结果重新生成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97614-76AA-4130-9EF7-4F3CF2D0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41338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Phase2 baseline 已切换为完整 5-fold，quick_mode=False，避免把调试结果写进最终报告。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C8C4B-68DF-45AD-B313-984932EF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476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71BB9-608D-4511-99AC-89B66D42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F5263F-8CED-49F0-8CF5-1F4546E4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Notebook 内容工程化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8331E-5624-443E-8F71-FA70A66D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41338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将参考 notebook 的 EDA、缩放比较、库模型对照改写为 Stage4 脚本，产物可复现、可追踪。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2BAB3-3C17-43FA-9574-D1940A5E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4476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BC5078-2EA1-48A8-BDB8-AA00F1E4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ACBF15-F103-44FF-A4B0-2F608F93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5755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MinMax 结论严格复核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413C6D-E33B-459A-9F1F-B65EF2FA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41338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Stage5 使用 OOF 预测选阈值，再迁移到外部集验证，减少直接看外部集挑阈值的偏差。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DF2D75-7023-4662-8F55-A6119437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8001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修复后的项目主线更清楚：数据可信 → 实验可信 → 结论可信 → 交付可信。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A06DC-7ADA-47B1-B9F7-B0C3B766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506CD-4719-4499-82A7-6C3C1C0A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98D3F-6A40-416F-82CE-53E2416F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84371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F5C6AD-6519-41ED-90D0-E7772748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6E2CA-27D0-4207-834A-148DFCAD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668DF-19C8-44FF-806A-F8900790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341ED-39EA-4072-B81A-05188C2B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Model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AAFA9-E263-4B71-B72F-688B6672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模型设计：保留从零实现的可解释性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FDDAD-2048-4C9F-8291-56E77677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4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9669F-7C95-48BF-87E4-3B70B48A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4643C-83F7-4F83-863D-31DDAD01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02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Logistic Regression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A861B-9051-491E-B2B7-08B6E90C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609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核心主线模型。适合解释线性特征贡献，训练稳定，可通过阈值调整实现不同召回/误报取舍。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D3087-0AD5-4A19-8D6B-149B6E02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9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0D48D-F986-4CA8-88FB-4A793BAA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89E30-9994-44D5-BEF7-6C66CC4E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002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Gaussian Naive Bayes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D39B0-746B-4C7F-A4ED-803418C1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43100"/>
            <a:ext cx="2609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概率型解释基线。假设强、训练快，可作为 LR 之外的低复杂度对照。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C3C13-2378-4BC8-AB2F-D5ECFCEC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2875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3F1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D436B-E7BB-4EB0-8688-7E568BED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287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8B497-2959-47C9-9DCB-550CDEB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02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k-Nearest Neighbors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FFCEA-F3C9-4DC2-9AD8-569574B3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43100"/>
            <a:ext cx="2609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非参数对照模型。主数据 CV 尚可，但外部迁移明显失败，说明距离度量对分布偏移敏感。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3D5E3-6B82-4FFC-99B4-3123873D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914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FF03C-BE1D-4B33-9A7E-FFFA7E3F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为什么还需要成熟库 benchmark？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87ADC-AC8F-4929-8E4C-19CC276C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828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从零实现是课程核心；成熟库结果用于 sanity check，帮助判断自实现模型是否在合理范围内，而不是替代主线实验。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272E0-91E6-4F25-B4FA-77CA7909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0CAE49-7857-4F56-A29A-3E1C13AC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A022FA-57A3-4F85-89EB-C5FB875B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436300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BD6A1-6D54-410F-B04E-54BC8FB9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A7779-B0E0-41B4-A281-AB214430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60D39-67C9-4029-8A43-3A3DEF01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1CCED-F2EC-4DA4-ABC1-11985FA6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Baseline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5ABF1-6D70-49BD-AA82-D095F092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基线结果：LR 是最稳的跨数据集主线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f788dd0ae41bf"/>
          <a:stretch xmlns:a="http://schemas.openxmlformats.org/drawingml/2006/main"/>
        </p:blipFill>
        <p:spPr>
          <a:xfrm xmlns:a="http://schemas.openxmlformats.org/drawingml/2006/main">
            <a:off x="6686550" y="1537607"/>
            <a:ext cx="3619500" cy="206828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4E792-8D01-4F9F-9903-B5171024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581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55B79-654E-4440-9DB3-5EC95744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D7EBE-441F-422F-A8B4-F7DA97D1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676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CV 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956C2-87B3-48EA-989B-AF1FBFCF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764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CV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8E117-C93F-496D-A8F7-1841DE4E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76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96260-451B-4775-B88D-6F58DA40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764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3624D-A42D-47B7-89C7-B1EE9BE4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 PR-AUC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EA0EA-86D8-4A8C-A180-A4DDEACC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581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DACA8-AF98-4BC1-9FAA-D03C04AC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E3440"/>
                </a:solidFill>
                <a:latin typeface="Aptos"/>
                <a:ea typeface="Aptos"/>
                <a:cs typeface="Aptos"/>
              </a:rPr>
              <a:t>LR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AA6DD-C479-4E6E-90C3-2E6BAF9A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57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0.8605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A001A-8454-4701-90EF-BDE6A061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574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0.4428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CBF3F-0D9D-4528-A83F-B5A60619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57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0.8466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B25E3-B75A-4DBD-BAEF-07D9938E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574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0.6949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3F03D0-54FD-4E75-A279-14006010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57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0.7469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A27A1-2035-4DB8-968A-326C99E6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581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3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AC435-1D77-42B4-8345-4D9B0D20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E3440"/>
                </a:solidFill>
                <a:latin typeface="Aptos"/>
                <a:ea typeface="Aptos"/>
                <a:cs typeface="Aptos"/>
              </a:rPr>
              <a:t>GNB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C35F75-5B52-4ABD-B24B-F40EB58F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38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0.8435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A33F3-F603-45BF-B5CA-CFC1E742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384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0.1092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9F8519-A671-470E-91DB-06836995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38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0.7974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18A100-1FF8-43B2-9D7A-D353A4AB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384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0.6411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47714E-DC5D-45B7-866B-D7FEAEE4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38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0.4939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996E2E-4A27-4999-A57B-6AA95B6A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581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432A7-4AF1-4520-AE0D-85A3459B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E3440"/>
                </a:solidFill>
                <a:latin typeface="Aptos"/>
                <a:ea typeface="Aptos"/>
                <a:cs typeface="Aptos"/>
              </a:rPr>
              <a:t>kNN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78A029-9B97-4908-97A2-BC700D82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19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0.8068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E16B20-E666-4785-BEF0-1AAFBE16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194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0.5811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E05C22-5613-4842-8850-D8E1F092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19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0.0274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17E396-1F3A-4030-A679-9AB2521C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194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0.0518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617968-6FA1-4A96-8C25-ADBC6C4B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0.5051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268BE0-33B2-4CFF-9B2B-CD5241F8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14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解释：LR 在外部集上保持最高召回与更好的综合 F1；GNB 可解释但 PR-AUC 弱；kNN 对外部分布偏移非常敏感。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2b7fe01bc4c00"/>
          <a:stretch xmlns:a="http://schemas.openxmlformats.org/drawingml/2006/main"/>
        </p:blipFill>
        <p:spPr>
          <a:xfrm xmlns:a="http://schemas.openxmlformats.org/drawingml/2006/main">
            <a:off x="7162800" y="3905250"/>
            <a:ext cx="2667000" cy="15240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CDB54B-D2EB-4B99-BD4D-71A9DDE8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798185-1CB4-4718-922A-2ED68E39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8EAE8A-0868-4311-8E7E-41481A77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5709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D07046-0157-4ED2-8545-9FDABBB1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FFB92-E473-457D-B87E-FCBE4F9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6215D-9688-430B-A678-25140C74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F4879-3AD5-4C8A-AE6B-B298DB79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Threshold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FF057-D0DD-404F-89C8-7B32D077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阈值选择：把概率输出变成业务动作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3fafac98d4e69"/>
          <a:stretch xmlns:a="http://schemas.openxmlformats.org/drawingml/2006/main"/>
        </p:blipFill>
        <p:spPr>
          <a:xfrm xmlns:a="http://schemas.openxmlformats.org/drawingml/2006/main">
            <a:off x="685800" y="1536246"/>
            <a:ext cx="4857750" cy="2775857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3c0ff49094913"/>
          <a:stretch xmlns:a="http://schemas.openxmlformats.org/drawingml/2006/main"/>
        </p:blipFill>
        <p:spPr>
          <a:xfrm xmlns:a="http://schemas.openxmlformats.org/drawingml/2006/main">
            <a:off x="6298406" y="1428750"/>
            <a:ext cx="3690938" cy="2952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620D0-5FB9-46F1-B635-CF8C0678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876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1E576-834D-4F91-BE5B-C017EEF6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720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关键点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B9F7D-A013-48A3-BC3E-724C8D15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72050"/>
            <a:ext cx="704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阈值不是固定 0.5。项目通过 Recall、Precision、F1 和成本曲线，选择符合业务目标的运行点。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0274B-D2BD-45F6-969D-6B0A6E82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312D3-DC2D-4300-A7AC-873430A6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5E7E4-04AE-410C-89C3-FB32F75C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01509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32B558-018D-4F1F-B127-4D6F656B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A78F0-E485-4ABF-8E5A-89FCC5F3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FD487-18A2-4FBB-92F3-D8D78CE8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925D8-6945-49C9-9142-F727FF50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Cost and Error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B751D-D79B-470C-9039-EFEF2F9E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成本与误差：不仅看分数，也看代价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a37e9b82c4493"/>
          <a:stretch xmlns:a="http://schemas.openxmlformats.org/drawingml/2006/main"/>
        </p:blipFill>
        <p:spPr>
          <a:xfrm xmlns:a="http://schemas.openxmlformats.org/drawingml/2006/main">
            <a:off x="742950" y="1558230"/>
            <a:ext cx="4619625" cy="2598539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14351bef74c77"/>
          <a:stretch xmlns:a="http://schemas.openxmlformats.org/drawingml/2006/main"/>
        </p:blipFill>
        <p:spPr>
          <a:xfrm xmlns:a="http://schemas.openxmlformats.org/drawingml/2006/main">
            <a:off x="6076950" y="1647392"/>
            <a:ext cx="4095750" cy="242021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84069-C274-487C-99D6-1018A1A1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答辩表达：同一模型在不同阈值下会变成不同业务系统。成本函数越偏向漏报惩罚，越应该选择高召回阈值。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E8644-2800-4CA8-87FE-3F3909AD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4910E-0B43-43C2-8F05-4422F6A6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4FD0D-8813-4FAC-BA8E-C1103033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23040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E8665F-CD41-45AD-AF5A-ACBDF481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A04E8-F81F-40C3-9C8D-E1C539F4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CF3CF-E1D8-4569-9D35-D00F50B7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8A74-B22E-4BDF-8207-21A5DA91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Stage4 EDA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34116-A3F6-4686-AA0A-9C251E6E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Notebook 增强：EDA 变成可复现证据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40c636ecc4ada"/>
          <a:stretch xmlns:a="http://schemas.openxmlformats.org/drawingml/2006/main"/>
        </p:blipFill>
        <p:spPr>
          <a:xfrm xmlns:a="http://schemas.openxmlformats.org/drawingml/2006/main">
            <a:off x="666750" y="1717569"/>
            <a:ext cx="4762500" cy="2670387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6a35d787a42fe"/>
          <a:stretch xmlns:a="http://schemas.openxmlformats.org/drawingml/2006/main"/>
        </p:blipFill>
        <p:spPr>
          <a:xfrm xmlns:a="http://schemas.openxmlformats.org/drawingml/2006/main">
            <a:off x="6096000" y="1510771"/>
            <a:ext cx="3952875" cy="307445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2AAC5-A1CC-4DB4-A70C-6F50883A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外部集与 Class 相关性最高的特征包括 V14、V12、V4、V11、V3、V10、V9、V16。图表用于解释模型为何能区分部分欺诈模式，也为误差分析提供方向。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E58A5-997D-41DB-81EE-C4FA304E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62678-8C30-4FDA-BBDF-DAD397CB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23019-A65E-49C1-8118-17388935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20711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04278A-34B6-418E-8783-10A1E742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45CB3-91C2-4DF2-84D7-870FACC3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04D1C-7609-4100-9482-08F78BA8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BCA78-292F-459D-ADAB-D54A1FD9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Stage4 Benchmarks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C4FDB-7638-4299-B07B-18674A37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缩放与库模型：把参考 notebook 的启发转成实验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7165637b744fa"/>
          <a:stretch xmlns:a="http://schemas.openxmlformats.org/drawingml/2006/main"/>
        </p:blipFill>
        <p:spPr>
          <a:xfrm xmlns:a="http://schemas.openxmlformats.org/drawingml/2006/main">
            <a:off x="666750" y="2205470"/>
            <a:ext cx="4476750" cy="1627909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bde0636564730"/>
          <a:stretch xmlns:a="http://schemas.openxmlformats.org/drawingml/2006/main"/>
        </p:blipFill>
        <p:spPr>
          <a:xfrm xmlns:a="http://schemas.openxmlformats.org/drawingml/2006/main">
            <a:off x="5905500" y="2024592"/>
            <a:ext cx="4476750" cy="198966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839CA-3759-4C5B-92E6-184E6B42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价值：缩放实验发现 MinMax 可能提升外部 F1；库模型 benchmark 提供 sanity check。但最终结论必须经过 Stage5 的 OOF 阈值复核。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2F3A6-1D51-43D9-8ED3-545908B0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1E12D-6C52-45DB-8746-0D3A7443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416A7-DBC5-4A5A-8451-21CD1547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4522463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9E11EB-699A-4ACD-BCFD-3173A3A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E2234-C211-4B30-B57A-EBF4C5B5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18FDE-E368-4E9F-B7A2-A85A3CA3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93A2C-98D5-49B9-A016-124B5C44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OOF Threshold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0209B-4D00-48D3-98F5-23B54E33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Stage5 严格复核：MinMax 是低误报候选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2bdfc386a4ed6"/>
          <a:stretch xmlns:a="http://schemas.openxmlformats.org/drawingml/2006/main"/>
        </p:blipFill>
        <p:spPr>
          <a:xfrm xmlns:a="http://schemas.openxmlformats.org/drawingml/2006/main">
            <a:off x="628650" y="1816894"/>
            <a:ext cx="4619625" cy="230981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BB7B0-ACCC-48CC-B24A-3384175A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390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CF7D3-EE7D-4F3E-9C15-A9FE94BC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14475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Standard LR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F0801-7509-40C0-8512-AE647205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62125"/>
            <a:ext cx="3600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Recall 0.8466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D42AE-27D7-4D0F-BCCC-F0FE3E4F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81225"/>
            <a:ext cx="3600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thr=0.85, F1=0.6949, PR-AUC=0.7469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B6256-0B9E-4788-895E-F13FE62B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43200"/>
            <a:ext cx="3905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FF60F-FE82-436C-B423-292AB259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76550"/>
            <a:ext cx="3600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MinMax LR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34A39-0588-4620-9E93-2B4503D6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3600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6F6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E6F68"/>
                </a:solidFill>
                <a:latin typeface="Aptos Display"/>
                <a:ea typeface="Aptos Display"/>
                <a:cs typeface="Aptos Display"/>
              </a:rPr>
              <a:t>Precision 0.9996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613A9-63CE-4193-B74E-494D4C80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43300"/>
            <a:ext cx="3600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thr=0.41, F1=0.7256, Recall=0.5695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069E5-7CDB-44DF-BD67-6404020F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29100"/>
            <a:ext cx="390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3A88F1-944F-47A8-ABD0-4D243BFF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196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解释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BBB90-66AB-412A-84B8-856EE6F6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196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MinMax 外部误报仅 59 个，但漏报上升。它不能替代高召回主线，却适合低审核量场景。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40A0A-FA46-47FD-923C-E7770AC1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25D35-CE02-4F37-A093-1930329F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18A1A-71B9-4F8A-B161-69B47218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230622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30D21E-896E-485D-BF1C-B1FCA786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A70D9-5399-4E4A-9312-6F0614EE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DD9FD-4570-4748-BCBE-2C5164D3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B5A73-C573-4591-9700-CB40CFB8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8025D-A615-4171-98F6-9E9C32E4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最终推荐：双运行模式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9C23A-B9AE-432C-B887-0051E234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7800"/>
            <a:ext cx="43624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5A008-7D2E-4B90-B7D2-FF403078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BC4E3-98CD-400F-9D5A-E244EE41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478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 Coverage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9E8B-856F-41DE-8DE1-2363EEF2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标准缩放 LR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85E76-834C-4207-8586-0F811308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3333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阈值 0.85</a:t>
            </a:r>
          </a:p>
          <a:p xmlns:a="http://schemas.openxmlformats.org/drawingml/2006/main">
            <a:pPr algn="l">
              <a:defRPr sz="1275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Recall 0.8466</a:t>
            </a:r>
          </a:p>
          <a:p xmlns:a="http://schemas.openxmlformats.org/drawingml/2006/main">
            <a:pPr algn="l">
              <a:defRPr sz="1275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F1 0.6949</a:t>
            </a:r>
          </a:p>
          <a:p xmlns:a="http://schemas.openxmlformats.org/drawingml/2006/main">
            <a:pPr algn="l">
              <a:defRPr sz="1275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适合欺诈漏报成本高、需要覆盖更多风险交易的场景。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36BF3-B4AB-453E-8D1A-8A2FEE52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47800"/>
            <a:ext cx="43624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48AB1-08A6-4883-A4E0-145BD738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ED855-BA90-4D56-A355-FD14792A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478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Low Alert Load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77DBA-7DCD-451E-B570-D7AC707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MinMax LR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A006B-0FFF-4454-84C9-CD9114C0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33700"/>
            <a:ext cx="3333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阈值 0.41</a:t>
            </a:r>
          </a:p>
          <a:p xmlns:a="http://schemas.openxmlformats.org/drawingml/2006/main">
            <a:pPr algn="l">
              <a:defRPr sz="1275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Precision 0.9996</a:t>
            </a:r>
          </a:p>
          <a:p xmlns:a="http://schemas.openxmlformats.org/drawingml/2006/main">
            <a:pPr algn="l">
              <a:defRPr sz="1275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F1 0.7256</a:t>
            </a:r>
          </a:p>
          <a:p xmlns:a="http://schemas.openxmlformats.org/drawingml/2006/main">
            <a:pPr algn="l">
              <a:defRPr sz="1275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适合人工审核容量有限、误报成本更敏感的场景。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B54E2-74E9-444E-8830-E8211C1B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91100"/>
            <a:ext cx="819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答辩建议：不要说“某个模型绝对最好”，而是说明不同阈值和缩放方式对应不同业务成本。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93F3D-8FD5-4690-99D8-353244A3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D41CF-69D4-4297-BF65-757A4FB3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1B0E9-348C-4146-BE00-6878D9C9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172384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40056F-D553-44A8-A887-E5B08F43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4949C-7BA3-4610-BF89-17D85BA2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384B2-41E3-4138-9C1B-E01A76B9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F2F25-4623-42DE-A358-95B9C57C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Deliverables and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F5FE6-481A-43D3-9EAE-93C98AA8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交付物与下一步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2A70C-F606-4354-AB15-503A6FBD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16C9E-CA71-4CFA-AB1A-4F3630A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C3C28-9D8C-4C7D-AEAA-93BFA45C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已完成交付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BB982-789F-426C-AE51-1AB55557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4133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README、项目状态日志、Notebook 扩展说明、综合报告、英文报告、LaTeX bundle、答辩 PPT 和 stage1-5 输出。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AA245-69A3-4324-88B6-1C0BED6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09700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FEB3A-EDAA-4F23-8BD7-45447429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097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EB659-840A-4C50-97B0-19A3F2E3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模型层下一步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04631-C923-4914-B483-4BCBD0A1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05000"/>
            <a:ext cx="4133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加入概率校准曲线、Platt/Isotonic calibration；尝试 LightGBM/XGBoost 作为强基线，但保留从零实现为课程核心。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22E2CB-99C7-40FA-8D1B-D2D33C35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707B2-2DBE-4289-82A5-617B2A4A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154BB-707D-480B-B6CC-2F2E0410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验证层下一步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802AC-096A-43F1-A0D0-21F3D10F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133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补充更严格的时间切分验证、漂移检测、不同成本假设下的阈值报告。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88DC9-5674-48F6-A472-760F8EA1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4476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2E100-BDCB-44FC-A23C-59EAA0C8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5DB5B-4A4C-450F-B688-9C0B10E5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995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解释层下一步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A275F-9A17-4C02-8F58-E53A5BC8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52850"/>
            <a:ext cx="4133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E344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E3440"/>
                </a:solidFill>
                <a:latin typeface="Aptos"/>
                <a:ea typeface="Aptos"/>
                <a:cs typeface="Aptos"/>
              </a:rPr>
              <a:t>增加 FP/FN 样本剖析、特征贡献解释、金额和时间分组表现，让误差分析更贴近业务。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3480E-C02C-42E2-B9CC-995E3C81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项目当前已经具备完整提交形态；继续优化的重点应放在校准、漂移和解释性。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48C44-7A07-4777-992E-2890A0AC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19850"/>
            <a:ext cx="10287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C4F5EC-3FCE-43DD-B166-1C5132F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Credit Card Fraud Detection 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66521B-5034-4FF6-9FA3-49B1E6A9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30910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2026-05-14T18:44:01.7950000Z</dcterms:created>
  <dcterms:modified xsi:type="dcterms:W3CDTF">2026-05-14T18:44:01.7950000Z</dcterms:modified>
</coreProperties>
</file>